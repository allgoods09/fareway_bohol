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Antique Olive" panose="020B0604020202020204" charset="0"/>
      <p:regular r:id="rId17"/>
    </p:embeddedFont>
    <p:embeddedFont>
      <p:font typeface="TT Interphases" panose="020B0604020202020204" charset="0"/>
      <p:regular r:id="rId18"/>
    </p:embeddedFont>
    <p:embeddedFont>
      <p:font typeface="TT Interphases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660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66729" y="-570885"/>
            <a:ext cx="7754521" cy="10191135"/>
            <a:chOff x="0" y="0"/>
            <a:chExt cx="1201378" cy="15788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1378" cy="1578874"/>
            </a:xfrm>
            <a:custGeom>
              <a:avLst/>
              <a:gdLst/>
              <a:ahLst/>
              <a:cxnLst/>
              <a:rect l="l" t="t" r="r" b="b"/>
              <a:pathLst>
                <a:path w="1201378" h="1578874">
                  <a:moveTo>
                    <a:pt x="49919" y="0"/>
                  </a:moveTo>
                  <a:lnTo>
                    <a:pt x="1151459" y="0"/>
                  </a:lnTo>
                  <a:cubicBezTo>
                    <a:pt x="1164699" y="0"/>
                    <a:pt x="1177396" y="5259"/>
                    <a:pt x="1186757" y="14621"/>
                  </a:cubicBezTo>
                  <a:cubicBezTo>
                    <a:pt x="1196119" y="23982"/>
                    <a:pt x="1201378" y="36679"/>
                    <a:pt x="1201378" y="49919"/>
                  </a:cubicBezTo>
                  <a:lnTo>
                    <a:pt x="1201378" y="1528955"/>
                  </a:lnTo>
                  <a:cubicBezTo>
                    <a:pt x="1201378" y="1556524"/>
                    <a:pt x="1179029" y="1578874"/>
                    <a:pt x="1151459" y="1578874"/>
                  </a:cubicBezTo>
                  <a:lnTo>
                    <a:pt x="49919" y="1578874"/>
                  </a:lnTo>
                  <a:cubicBezTo>
                    <a:pt x="22349" y="1578874"/>
                    <a:pt x="0" y="1556524"/>
                    <a:pt x="0" y="1528955"/>
                  </a:cubicBezTo>
                  <a:lnTo>
                    <a:pt x="0" y="49919"/>
                  </a:lnTo>
                  <a:cubicBezTo>
                    <a:pt x="0" y="22349"/>
                    <a:pt x="22349" y="0"/>
                    <a:pt x="49919" y="0"/>
                  </a:cubicBezTo>
                  <a:close/>
                </a:path>
              </a:pathLst>
            </a:custGeom>
            <a:blipFill>
              <a:blip r:embed="rId2"/>
              <a:stretch>
                <a:fillRect t="-307" b="-307"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4" name="Freeform 4"/>
          <p:cNvSpPr/>
          <p:nvPr/>
        </p:nvSpPr>
        <p:spPr>
          <a:xfrm>
            <a:off x="666750" y="666750"/>
            <a:ext cx="1133475" cy="1133475"/>
          </a:xfrm>
          <a:custGeom>
            <a:avLst/>
            <a:gdLst/>
            <a:ahLst/>
            <a:cxnLst/>
            <a:rect l="l" t="t" r="r" b="b"/>
            <a:pathLst>
              <a:path w="1133475" h="1133475">
                <a:moveTo>
                  <a:pt x="0" y="0"/>
                </a:moveTo>
                <a:lnTo>
                  <a:pt x="1133475" y="0"/>
                </a:lnTo>
                <a:lnTo>
                  <a:pt x="113347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5" name="TextBox 5"/>
          <p:cNvSpPr txBox="1"/>
          <p:nvPr/>
        </p:nvSpPr>
        <p:spPr>
          <a:xfrm>
            <a:off x="666750" y="2543175"/>
            <a:ext cx="8324850" cy="5757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62"/>
              </a:lnSpc>
            </a:pPr>
            <a:r>
              <a:rPr lang="en-US" sz="9625" spc="-96">
                <a:solidFill>
                  <a:srgbClr val="1E3A8A"/>
                </a:solidFill>
                <a:latin typeface="Antique Olive"/>
                <a:ea typeface="Antique Olive"/>
                <a:cs typeface="Antique Olive"/>
                <a:sym typeface="Antique Olive"/>
              </a:rPr>
              <a:t>Public Transport Fare and Route Information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6750" y="9239250"/>
            <a:ext cx="6886575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47"/>
              </a:lnSpc>
            </a:pPr>
            <a:r>
              <a:rPr lang="en-US" sz="2539">
                <a:solidFill>
                  <a:srgbClr val="1F2937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GROUP 10 - Sonnet 4.2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647825"/>
            <a:ext cx="16954500" cy="143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  <a:spcBef>
                <a:spcPct val="0"/>
              </a:spcBef>
            </a:pPr>
            <a:r>
              <a:rPr lang="en-US" sz="10000" u="none" strike="noStrike" spc="-100">
                <a:solidFill>
                  <a:srgbClr val="1E3A8A"/>
                </a:solidFill>
                <a:latin typeface="Antique Olive"/>
                <a:ea typeface="Antique Olive"/>
                <a:cs typeface="Antique Olive"/>
                <a:sym typeface="Antique Olive"/>
              </a:rPr>
              <a:t>Introduction</a:t>
            </a:r>
          </a:p>
        </p:txBody>
      </p:sp>
      <p:sp>
        <p:nvSpPr>
          <p:cNvPr id="3" name="Auto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750" y="681038"/>
            <a:ext cx="16954500" cy="0"/>
          </a:xfrm>
          <a:prstGeom prst="line">
            <a:avLst/>
          </a:prstGeom>
          <a:ln w="28575" cap="rnd">
            <a:solidFill>
              <a:srgbClr val="1E3A8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4" name="Freeform 4"/>
          <p:cNvSpPr/>
          <p:nvPr/>
        </p:nvSpPr>
        <p:spPr>
          <a:xfrm>
            <a:off x="-1676400" y="6934200"/>
            <a:ext cx="3352800" cy="3352800"/>
          </a:xfrm>
          <a:custGeom>
            <a:avLst/>
            <a:gdLst/>
            <a:ahLst/>
            <a:cxnLst/>
            <a:rect l="l" t="t" r="r" b="b"/>
            <a:pathLst>
              <a:path w="3352800" h="3352800">
                <a:moveTo>
                  <a:pt x="0" y="0"/>
                </a:moveTo>
                <a:lnTo>
                  <a:pt x="3352800" y="0"/>
                </a:lnTo>
                <a:lnTo>
                  <a:pt x="3352800" y="3352800"/>
                </a:lnTo>
                <a:lnTo>
                  <a:pt x="0" y="335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5" name="Freeform 5"/>
          <p:cNvSpPr/>
          <p:nvPr/>
        </p:nvSpPr>
        <p:spPr>
          <a:xfrm>
            <a:off x="1676400" y="6934200"/>
            <a:ext cx="3352800" cy="3352800"/>
          </a:xfrm>
          <a:custGeom>
            <a:avLst/>
            <a:gdLst/>
            <a:ahLst/>
            <a:cxnLst/>
            <a:rect l="l" t="t" r="r" b="b"/>
            <a:pathLst>
              <a:path w="3352800" h="3352800">
                <a:moveTo>
                  <a:pt x="0" y="0"/>
                </a:moveTo>
                <a:lnTo>
                  <a:pt x="3352800" y="0"/>
                </a:lnTo>
                <a:lnTo>
                  <a:pt x="3352800" y="3352800"/>
                </a:lnTo>
                <a:lnTo>
                  <a:pt x="0" y="335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6" name="TextBox 6"/>
          <p:cNvSpPr txBox="1"/>
          <p:nvPr/>
        </p:nvSpPr>
        <p:spPr>
          <a:xfrm>
            <a:off x="5737786" y="8705850"/>
            <a:ext cx="12082120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 b="1" spc="120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WE’RE MAKING THIS SYSTEM TO MAKE COMMUTING FEEL LESS STRESSFUL AND MORE PREDICTABLE BY FOCUSING ON CLEAR SOLUTIONS THAT HELP BOTH RIDERS AND OPERATORS.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58350" y="2781051"/>
            <a:ext cx="113347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spc="120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5467101"/>
            <a:ext cx="113347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spc="120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781051"/>
            <a:ext cx="113347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spc="120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66975" y="2781051"/>
            <a:ext cx="544830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spc="120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ACCURATE ROUTE INFORMATION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66975" y="3270636"/>
            <a:ext cx="544830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</a:pPr>
            <a:r>
              <a:rPr lang="en-US" sz="2400">
                <a:solidFill>
                  <a:srgbClr val="1F2937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Ensures users have timely details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66975" y="5467101"/>
            <a:ext cx="5448300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spc="120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ENHANCED COMMUTING EXPERIENCE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66975" y="6318636"/>
            <a:ext cx="5448300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</a:pPr>
            <a:r>
              <a:rPr lang="en-US" sz="2400">
                <a:solidFill>
                  <a:srgbClr val="1F2937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Makes travel straightforward and efficient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96625" y="2781051"/>
            <a:ext cx="544830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spc="120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BEST ROUTE ASSISTANCE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96625" y="3270636"/>
            <a:ext cx="544830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</a:pPr>
            <a:r>
              <a:rPr lang="en-US" sz="2400">
                <a:solidFill>
                  <a:srgbClr val="1F2937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Guides users to optimal travel paths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658350" y="5476626"/>
            <a:ext cx="6886575" cy="1676400"/>
            <a:chOff x="0" y="0"/>
            <a:chExt cx="9182100" cy="22352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15113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04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17700" y="-9525"/>
              <a:ext cx="7264400" cy="974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SUPPORT FOR TRANSPORT MANAGEMENT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17700" y="1141730"/>
              <a:ext cx="7264400" cy="1093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Facilitates efficient system operation and oversight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66750" y="752475"/>
            <a:ext cx="16954500" cy="143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  <a:spcBef>
                <a:spcPct val="0"/>
              </a:spcBef>
            </a:pPr>
            <a:r>
              <a:rPr lang="en-US" sz="10000" u="none" strike="noStrike" spc="-100">
                <a:solidFill>
                  <a:srgbClr val="1E3A8A"/>
                </a:solidFill>
                <a:latin typeface="Antique Olive"/>
                <a:ea typeface="Antique Olive"/>
                <a:cs typeface="Antique Olive"/>
                <a:sym typeface="Antique Olive"/>
              </a:rPr>
              <a:t>Objectives of the System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06931" y="8276976"/>
            <a:ext cx="113347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spc="120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45206" y="8276976"/>
            <a:ext cx="8475569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spc="120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DISPLAY ACCURATE AND UPDATED FARE AMOUNT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45206" y="8812530"/>
            <a:ext cx="5448300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</a:pPr>
            <a:r>
              <a:rPr lang="en-US" sz="2400">
                <a:solidFill>
                  <a:srgbClr val="1F2937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Providing the users the fare amount of their chosen route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52475"/>
            <a:ext cx="16954500" cy="143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  <a:spcBef>
                <a:spcPct val="0"/>
              </a:spcBef>
            </a:pPr>
            <a:r>
              <a:rPr lang="en-US" sz="10000" u="none" strike="noStrike" spc="-100">
                <a:solidFill>
                  <a:srgbClr val="1E3A8A"/>
                </a:solidFill>
                <a:latin typeface="Antique Olive"/>
                <a:ea typeface="Antique Olive"/>
                <a:cs typeface="Antique Olive"/>
                <a:sym typeface="Antique Olive"/>
              </a:rPr>
              <a:t>Target Users of the System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6750" y="4238625"/>
            <a:ext cx="113347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spc="120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6750" y="6924675"/>
            <a:ext cx="113347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spc="120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96400" y="4238625"/>
            <a:ext cx="113347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spc="120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02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105025" y="4248150"/>
            <a:ext cx="5448300" cy="1314450"/>
            <a:chOff x="0" y="0"/>
            <a:chExt cx="7264400" cy="1752600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COMMUTERS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659130"/>
              <a:ext cx="7264400" cy="1093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Students, employees, and tourists seeking routes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05025" y="6934200"/>
            <a:ext cx="5448300" cy="1314450"/>
            <a:chOff x="0" y="0"/>
            <a:chExt cx="7264400" cy="175260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LOCAL GOVERNMENT UNITS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59130"/>
              <a:ext cx="7264400" cy="1093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Administrators overseeing transport systems and policies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734675" y="4248150"/>
            <a:ext cx="5448300" cy="1314450"/>
            <a:chOff x="0" y="0"/>
            <a:chExt cx="7264400" cy="175260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TRANSPORT OPERATORS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659130"/>
              <a:ext cx="7264400" cy="1093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Organizations managing public transport services efficiently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4238625"/>
            <a:ext cx="113347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spc="120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6750" y="6029325"/>
            <a:ext cx="113347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spc="120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6750" y="7820025"/>
            <a:ext cx="113347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spc="120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96400" y="4238625"/>
            <a:ext cx="113347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spc="120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96400" y="6029325"/>
            <a:ext cx="113347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spc="120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04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105025" y="4248150"/>
            <a:ext cx="5448300" cy="895350"/>
            <a:chOff x="0" y="0"/>
            <a:chExt cx="7264400" cy="1193800"/>
          </a:xfrm>
        </p:grpSpPr>
        <p:sp>
          <p:nvSpPr>
            <p:cNvPr id="8" name="TextBox 8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ROUTE SEARCH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659130"/>
              <a:ext cx="72644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Find routes easily from start to end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105025" y="6038850"/>
            <a:ext cx="5448300" cy="895350"/>
            <a:chOff x="0" y="0"/>
            <a:chExt cx="7264400" cy="119380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FARE ESTIMATION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659130"/>
              <a:ext cx="72644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Get accurate fare information instantly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105025" y="7829550"/>
            <a:ext cx="5448300" cy="1314450"/>
            <a:chOff x="0" y="0"/>
            <a:chExt cx="7264400" cy="175260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ANNOUNCEMENTS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659130"/>
              <a:ext cx="7264400" cy="1093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Stay updated with important transport news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734675" y="4248150"/>
            <a:ext cx="5448300" cy="895350"/>
            <a:chOff x="0" y="0"/>
            <a:chExt cx="7264400" cy="1193800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ROUTE OPTIONS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659130"/>
              <a:ext cx="72644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Choose cheapest or fastest travel plans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734675" y="6038850"/>
            <a:ext cx="5448300" cy="895350"/>
            <a:chOff x="0" y="0"/>
            <a:chExt cx="7264400" cy="1193800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TRANSPORT FILTERING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659130"/>
              <a:ext cx="72644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Filter options by vehicle type efficiently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66750" y="752475"/>
            <a:ext cx="16954500" cy="143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  <a:spcBef>
                <a:spcPct val="0"/>
              </a:spcBef>
            </a:pPr>
            <a:r>
              <a:rPr lang="en-US" sz="10000" u="none" strike="noStrike" spc="-100">
                <a:solidFill>
                  <a:srgbClr val="1E3A8A"/>
                </a:solidFill>
                <a:latin typeface="Antique Olive"/>
                <a:ea typeface="Antique Olive"/>
                <a:cs typeface="Antique Olive"/>
                <a:sym typeface="Antique Olive"/>
              </a:rPr>
              <a:t>User Features Overview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647825"/>
            <a:ext cx="16954500" cy="143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  <a:spcBef>
                <a:spcPct val="0"/>
              </a:spcBef>
            </a:pPr>
            <a:r>
              <a:rPr lang="en-US" sz="10000" u="none" strike="noStrike" spc="-100">
                <a:solidFill>
                  <a:srgbClr val="1E3A8A"/>
                </a:solidFill>
                <a:latin typeface="Antique Olive"/>
                <a:ea typeface="Antique Olive"/>
                <a:cs typeface="Antique Olive"/>
                <a:sym typeface="Antique Olive"/>
              </a:rPr>
              <a:t>User Reporting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96400" y="7467600"/>
            <a:ext cx="8324850" cy="2152650"/>
            <a:chOff x="0" y="0"/>
            <a:chExt cx="11099800" cy="2870200"/>
          </a:xfrm>
        </p:grpSpPr>
        <p:sp>
          <p:nvSpPr>
            <p:cNvPr id="4" name="TextBox 4"/>
            <p:cNvSpPr txBox="1"/>
            <p:nvPr/>
          </p:nvSpPr>
          <p:spPr>
            <a:xfrm>
              <a:off x="0" y="1217930"/>
              <a:ext cx="11099800" cy="1652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Users can </a:t>
              </a:r>
              <a:r>
                <a:rPr lang="en-US" sz="2400" b="1" u="none">
                  <a:solidFill>
                    <a:srgbClr val="1F2937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report inaccuracies</a:t>
              </a:r>
              <a:r>
                <a:rPr lang="en-US" sz="2400" u="none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in routes, fares, and stops, enabling timely updates and maintaining a reliable transport system that benefits all users and operators.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11099800" cy="974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ENSURING ACCURATE TRANSPORT INFORMATION SYSTEM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-1676400" y="6934200"/>
            <a:ext cx="3352800" cy="3352800"/>
          </a:xfrm>
          <a:custGeom>
            <a:avLst/>
            <a:gdLst/>
            <a:ahLst/>
            <a:cxnLst/>
            <a:rect l="l" t="t" r="r" b="b"/>
            <a:pathLst>
              <a:path w="3352800" h="3352800">
                <a:moveTo>
                  <a:pt x="0" y="0"/>
                </a:moveTo>
                <a:lnTo>
                  <a:pt x="3352800" y="0"/>
                </a:lnTo>
                <a:lnTo>
                  <a:pt x="3352800" y="3352800"/>
                </a:lnTo>
                <a:lnTo>
                  <a:pt x="0" y="335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7" name="Freeform 7"/>
          <p:cNvSpPr/>
          <p:nvPr/>
        </p:nvSpPr>
        <p:spPr>
          <a:xfrm>
            <a:off x="1676400" y="6934200"/>
            <a:ext cx="3352800" cy="3352800"/>
          </a:xfrm>
          <a:custGeom>
            <a:avLst/>
            <a:gdLst/>
            <a:ahLst/>
            <a:cxnLst/>
            <a:rect l="l" t="t" r="r" b="b"/>
            <a:pathLst>
              <a:path w="3352800" h="3352800">
                <a:moveTo>
                  <a:pt x="0" y="0"/>
                </a:moveTo>
                <a:lnTo>
                  <a:pt x="3352800" y="0"/>
                </a:lnTo>
                <a:lnTo>
                  <a:pt x="3352800" y="3352800"/>
                </a:lnTo>
                <a:lnTo>
                  <a:pt x="0" y="335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8" name="Auto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750" y="681038"/>
            <a:ext cx="16954500" cy="0"/>
          </a:xfrm>
          <a:prstGeom prst="line">
            <a:avLst/>
          </a:prstGeom>
          <a:ln w="28575" cap="rnd">
            <a:solidFill>
              <a:srgbClr val="1E3A8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2447925"/>
            <a:ext cx="6886575" cy="4064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00"/>
              </a:lnSpc>
            </a:pPr>
            <a:r>
              <a:rPr lang="en-US" sz="10000" u="none" strike="noStrike">
                <a:solidFill>
                  <a:srgbClr val="1E3A8A"/>
                </a:solidFill>
                <a:latin typeface="Antique Olive"/>
                <a:ea typeface="Antique Olive"/>
                <a:cs typeface="Antique Olive"/>
                <a:sym typeface="Antique Olive"/>
              </a:rPr>
              <a:t>Simplified Route Map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6750" y="8886825"/>
            <a:ext cx="6886575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spc="120">
                <a:solidFill>
                  <a:srgbClr val="1F2937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VISUAL REPRESENTATION OF TRANSPORT ROUTES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404329" y="666750"/>
            <a:ext cx="10318877" cy="8953500"/>
            <a:chOff x="0" y="0"/>
            <a:chExt cx="1598664" cy="138713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98664" cy="1387131"/>
            </a:xfrm>
            <a:custGeom>
              <a:avLst/>
              <a:gdLst/>
              <a:ahLst/>
              <a:cxnLst/>
              <a:rect l="l" t="t" r="r" b="b"/>
              <a:pathLst>
                <a:path w="1598664" h="1387131">
                  <a:moveTo>
                    <a:pt x="37513" y="0"/>
                  </a:moveTo>
                  <a:lnTo>
                    <a:pt x="1561151" y="0"/>
                  </a:lnTo>
                  <a:cubicBezTo>
                    <a:pt x="1571100" y="0"/>
                    <a:pt x="1580642" y="3952"/>
                    <a:pt x="1587677" y="10987"/>
                  </a:cubicBezTo>
                  <a:cubicBezTo>
                    <a:pt x="1594712" y="18023"/>
                    <a:pt x="1598664" y="27564"/>
                    <a:pt x="1598664" y="37513"/>
                  </a:cubicBezTo>
                  <a:lnTo>
                    <a:pt x="1598664" y="1349618"/>
                  </a:lnTo>
                  <a:cubicBezTo>
                    <a:pt x="1598664" y="1359567"/>
                    <a:pt x="1594712" y="1369109"/>
                    <a:pt x="1587677" y="1376144"/>
                  </a:cubicBezTo>
                  <a:cubicBezTo>
                    <a:pt x="1580642" y="1383179"/>
                    <a:pt x="1571100" y="1387131"/>
                    <a:pt x="1561151" y="1387131"/>
                  </a:cubicBezTo>
                  <a:lnTo>
                    <a:pt x="37513" y="1387131"/>
                  </a:lnTo>
                  <a:cubicBezTo>
                    <a:pt x="16795" y="1387131"/>
                    <a:pt x="0" y="1370336"/>
                    <a:pt x="0" y="1349618"/>
                  </a:cubicBezTo>
                  <a:lnTo>
                    <a:pt x="0" y="37513"/>
                  </a:lnTo>
                  <a:cubicBezTo>
                    <a:pt x="0" y="27564"/>
                    <a:pt x="3952" y="18023"/>
                    <a:pt x="10987" y="10987"/>
                  </a:cubicBezTo>
                  <a:cubicBezTo>
                    <a:pt x="18023" y="3952"/>
                    <a:pt x="27564" y="0"/>
                    <a:pt x="37513" y="0"/>
                  </a:cubicBezTo>
                  <a:close/>
                </a:path>
              </a:pathLst>
            </a:custGeom>
            <a:blipFill>
              <a:blip r:embed="rId2"/>
              <a:stretch>
                <a:fillRect l="-667" r="-667"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666750" y="695325"/>
            <a:ext cx="8324850" cy="0"/>
          </a:xfrm>
          <a:prstGeom prst="line">
            <a:avLst/>
          </a:prstGeom>
          <a:ln w="28575" cap="rnd">
            <a:solidFill>
              <a:srgbClr val="1E3A8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11246242" y="-319683"/>
            <a:ext cx="6375008" cy="9954220"/>
            <a:chOff x="0" y="0"/>
            <a:chExt cx="987656" cy="15421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7656" cy="1542169"/>
            </a:xfrm>
            <a:custGeom>
              <a:avLst/>
              <a:gdLst/>
              <a:ahLst/>
              <a:cxnLst/>
              <a:rect l="l" t="t" r="r" b="b"/>
              <a:pathLst>
                <a:path w="987656" h="1542169">
                  <a:moveTo>
                    <a:pt x="60721" y="0"/>
                  </a:moveTo>
                  <a:lnTo>
                    <a:pt x="926935" y="0"/>
                  </a:lnTo>
                  <a:cubicBezTo>
                    <a:pt x="943039" y="0"/>
                    <a:pt x="958483" y="6397"/>
                    <a:pt x="969871" y="17785"/>
                  </a:cubicBezTo>
                  <a:cubicBezTo>
                    <a:pt x="981258" y="29172"/>
                    <a:pt x="987656" y="44617"/>
                    <a:pt x="987656" y="60721"/>
                  </a:cubicBezTo>
                  <a:lnTo>
                    <a:pt x="987656" y="1481448"/>
                  </a:lnTo>
                  <a:cubicBezTo>
                    <a:pt x="987656" y="1514984"/>
                    <a:pt x="960470" y="1542169"/>
                    <a:pt x="926935" y="1542169"/>
                  </a:cubicBezTo>
                  <a:lnTo>
                    <a:pt x="60721" y="1542169"/>
                  </a:lnTo>
                  <a:cubicBezTo>
                    <a:pt x="44617" y="1542169"/>
                    <a:pt x="29172" y="1535772"/>
                    <a:pt x="17785" y="1524384"/>
                  </a:cubicBezTo>
                  <a:cubicBezTo>
                    <a:pt x="6397" y="1512997"/>
                    <a:pt x="0" y="1497553"/>
                    <a:pt x="0" y="1481448"/>
                  </a:cubicBezTo>
                  <a:lnTo>
                    <a:pt x="0" y="60721"/>
                  </a:lnTo>
                  <a:cubicBezTo>
                    <a:pt x="0" y="44617"/>
                    <a:pt x="6397" y="29172"/>
                    <a:pt x="17785" y="17785"/>
                  </a:cubicBezTo>
                  <a:cubicBezTo>
                    <a:pt x="29172" y="6397"/>
                    <a:pt x="44617" y="0"/>
                    <a:pt x="60721" y="0"/>
                  </a:cubicBezTo>
                  <a:close/>
                </a:path>
              </a:pathLst>
            </a:custGeom>
            <a:blipFill>
              <a:blip r:embed="rId2"/>
              <a:stretch>
                <a:fillRect l="-746" r="-746"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66750" y="1647825"/>
            <a:ext cx="8324850" cy="4867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  <a:spcBef>
                <a:spcPct val="0"/>
              </a:spcBef>
            </a:pPr>
            <a:r>
              <a:rPr lang="en-US" sz="10000" u="none" strike="noStrike" spc="-100">
                <a:solidFill>
                  <a:srgbClr val="1E3A8A"/>
                </a:solidFill>
                <a:latin typeface="Antique Olive"/>
                <a:ea typeface="Antique Olive"/>
                <a:cs typeface="Antique Olive"/>
                <a:sym typeface="Antique Olive"/>
              </a:rPr>
              <a:t>System Design: Clean Interface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6750" y="8366760"/>
            <a:ext cx="8324850" cy="1253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>
                <a:solidFill>
                  <a:srgbClr val="1F2937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Our system features a </a:t>
            </a:r>
            <a:r>
              <a:rPr lang="en-US" sz="2400" b="1" u="none">
                <a:solidFill>
                  <a:srgbClr val="1F2937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user-friendly layout</a:t>
            </a:r>
            <a:r>
              <a:rPr lang="en-US" sz="2400" u="none">
                <a:solidFill>
                  <a:srgbClr val="1F2937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with intuitive navigation, enhancing accessibility for all commuters and administrators.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99002" y="2680073"/>
            <a:ext cx="6886575" cy="7294656"/>
            <a:chOff x="0" y="0"/>
            <a:chExt cx="1066911" cy="11301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6911" cy="1130133"/>
            </a:xfrm>
            <a:custGeom>
              <a:avLst/>
              <a:gdLst/>
              <a:ahLst/>
              <a:cxnLst/>
              <a:rect l="l" t="t" r="r" b="b"/>
              <a:pathLst>
                <a:path w="1066911" h="1130133">
                  <a:moveTo>
                    <a:pt x="56210" y="0"/>
                  </a:moveTo>
                  <a:lnTo>
                    <a:pt x="1010700" y="0"/>
                  </a:lnTo>
                  <a:cubicBezTo>
                    <a:pt x="1041744" y="0"/>
                    <a:pt x="1066911" y="25166"/>
                    <a:pt x="1066911" y="56210"/>
                  </a:cubicBezTo>
                  <a:lnTo>
                    <a:pt x="1066911" y="1073923"/>
                  </a:lnTo>
                  <a:cubicBezTo>
                    <a:pt x="1066911" y="1104967"/>
                    <a:pt x="1041744" y="1130133"/>
                    <a:pt x="1010700" y="1130133"/>
                  </a:cubicBezTo>
                  <a:lnTo>
                    <a:pt x="56210" y="1130133"/>
                  </a:lnTo>
                  <a:cubicBezTo>
                    <a:pt x="25166" y="1130133"/>
                    <a:pt x="0" y="1104967"/>
                    <a:pt x="0" y="1073923"/>
                  </a:cubicBezTo>
                  <a:lnTo>
                    <a:pt x="0" y="56210"/>
                  </a:lnTo>
                  <a:cubicBezTo>
                    <a:pt x="0" y="25166"/>
                    <a:pt x="25166" y="0"/>
                    <a:pt x="56210" y="0"/>
                  </a:cubicBezTo>
                  <a:close/>
                </a:path>
              </a:pathLst>
            </a:custGeom>
            <a:blipFill>
              <a:blip r:embed="rId2"/>
              <a:stretch>
                <a:fillRect l="-1307" r="-1307"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126740" y="2680073"/>
            <a:ext cx="6391623" cy="7294656"/>
            <a:chOff x="0" y="0"/>
            <a:chExt cx="990230" cy="11301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90230" cy="1130133"/>
            </a:xfrm>
            <a:custGeom>
              <a:avLst/>
              <a:gdLst/>
              <a:ahLst/>
              <a:cxnLst/>
              <a:rect l="l" t="t" r="r" b="b"/>
              <a:pathLst>
                <a:path w="990230" h="1130133">
                  <a:moveTo>
                    <a:pt x="60563" y="0"/>
                  </a:moveTo>
                  <a:lnTo>
                    <a:pt x="929667" y="0"/>
                  </a:lnTo>
                  <a:cubicBezTo>
                    <a:pt x="963115" y="0"/>
                    <a:pt x="990230" y="27115"/>
                    <a:pt x="990230" y="60563"/>
                  </a:cubicBezTo>
                  <a:lnTo>
                    <a:pt x="990230" y="1069570"/>
                  </a:lnTo>
                  <a:cubicBezTo>
                    <a:pt x="990230" y="1085632"/>
                    <a:pt x="983849" y="1101037"/>
                    <a:pt x="972491" y="1112395"/>
                  </a:cubicBezTo>
                  <a:cubicBezTo>
                    <a:pt x="961133" y="1123752"/>
                    <a:pt x="945729" y="1130133"/>
                    <a:pt x="929667" y="1130133"/>
                  </a:cubicBezTo>
                  <a:lnTo>
                    <a:pt x="60563" y="1130133"/>
                  </a:lnTo>
                  <a:cubicBezTo>
                    <a:pt x="44501" y="1130133"/>
                    <a:pt x="29096" y="1123752"/>
                    <a:pt x="17738" y="1112395"/>
                  </a:cubicBezTo>
                  <a:cubicBezTo>
                    <a:pt x="6381" y="1101037"/>
                    <a:pt x="0" y="1085632"/>
                    <a:pt x="0" y="1069570"/>
                  </a:cubicBezTo>
                  <a:lnTo>
                    <a:pt x="0" y="60563"/>
                  </a:lnTo>
                  <a:cubicBezTo>
                    <a:pt x="0" y="44501"/>
                    <a:pt x="6381" y="29096"/>
                    <a:pt x="17738" y="17738"/>
                  </a:cubicBezTo>
                  <a:cubicBezTo>
                    <a:pt x="29096" y="6381"/>
                    <a:pt x="44501" y="0"/>
                    <a:pt x="60563" y="0"/>
                  </a:cubicBezTo>
                  <a:close/>
                </a:path>
              </a:pathLst>
            </a:custGeom>
            <a:blipFill>
              <a:blip r:embed="rId3"/>
              <a:stretch>
                <a:fillRect t="-1165" b="-1165"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66750" y="766763"/>
            <a:ext cx="16954500" cy="143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  <a:spcBef>
                <a:spcPct val="0"/>
              </a:spcBef>
            </a:pPr>
            <a:r>
              <a:rPr lang="en-US" sz="10000" u="none" strike="noStrike" spc="-100">
                <a:solidFill>
                  <a:srgbClr val="1E3A8A"/>
                </a:solidFill>
                <a:latin typeface="Antique Olive"/>
                <a:ea typeface="Antique Olive"/>
                <a:cs typeface="Antique Olive"/>
                <a:sym typeface="Antique Olive"/>
              </a:rPr>
              <a:t>Color Scheme Overview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4238625"/>
            <a:ext cx="113347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4"/>
              </a:lnSpc>
              <a:spcBef>
                <a:spcPct val="0"/>
              </a:spcBef>
            </a:pPr>
            <a:r>
              <a:rPr lang="en-US" sz="2370" b="1" spc="118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6750" y="6029325"/>
            <a:ext cx="113347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4"/>
              </a:lnSpc>
              <a:spcBef>
                <a:spcPct val="0"/>
              </a:spcBef>
            </a:pPr>
            <a:r>
              <a:rPr lang="en-US" sz="2370" b="1" spc="118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296400" y="4238625"/>
            <a:ext cx="113347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4"/>
              </a:lnSpc>
              <a:spcBef>
                <a:spcPct val="0"/>
              </a:spcBef>
            </a:pPr>
            <a:r>
              <a:rPr lang="en-US" sz="2370" b="1" spc="118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96400" y="6029325"/>
            <a:ext cx="113347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4"/>
              </a:lnSpc>
              <a:spcBef>
                <a:spcPct val="0"/>
              </a:spcBef>
            </a:pPr>
            <a:r>
              <a:rPr lang="en-US" sz="2370" b="1" spc="118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04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105025" y="4248150"/>
            <a:ext cx="5448300" cy="896112"/>
            <a:chOff x="0" y="0"/>
            <a:chExt cx="7264400" cy="1194816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MANAGE ROUTES AND STOPS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659130"/>
              <a:ext cx="7264400" cy="5356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370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Admins can edit and update routes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05025" y="6038850"/>
            <a:ext cx="5448300" cy="1315212"/>
            <a:chOff x="0" y="0"/>
            <a:chExt cx="7264400" cy="1753616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VIEW REPORTS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59130"/>
              <a:ext cx="7264400" cy="10944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370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Analyze user feedback and system performance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829175" y="8249412"/>
            <a:ext cx="6886575" cy="1315212"/>
            <a:chOff x="0" y="0"/>
            <a:chExt cx="9182100" cy="1753616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1511300" cy="479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44"/>
                </a:lnSpc>
                <a:spcBef>
                  <a:spcPct val="0"/>
                </a:spcBef>
              </a:pPr>
              <a:r>
                <a:rPr lang="en-US" sz="2370" b="1" spc="118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05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1770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VIEW ANALYTICS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17700" y="659130"/>
              <a:ext cx="7264400" cy="10944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370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Monitor usage patterns and trends consistently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734675" y="4248150"/>
            <a:ext cx="5448300" cy="896112"/>
            <a:chOff x="0" y="0"/>
            <a:chExt cx="7264400" cy="1194816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MANAGE FARES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659130"/>
              <a:ext cx="7264400" cy="5356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370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Set and modify fare structures easily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734675" y="6038850"/>
            <a:ext cx="5448300" cy="1315212"/>
            <a:chOff x="0" y="0"/>
            <a:chExt cx="7264400" cy="1753616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POST ANNOUNCEMENTS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659130"/>
              <a:ext cx="7264400" cy="10944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370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Communicate updates to users effectively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66750" y="752475"/>
            <a:ext cx="16954500" cy="2581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  <a:spcBef>
                <a:spcPct val="0"/>
              </a:spcBef>
            </a:pPr>
            <a:r>
              <a:rPr lang="en-US" sz="10000" u="none" strike="noStrike" spc="-100">
                <a:solidFill>
                  <a:srgbClr val="1E3A8A"/>
                </a:solidFill>
                <a:latin typeface="Antique Olive"/>
                <a:ea typeface="Antique Olive"/>
                <a:cs typeface="Antique Olive"/>
                <a:sym typeface="Antique Olive"/>
              </a:rPr>
              <a:t>Admin Dashboard Features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042660"/>
            <a:ext cx="6886575" cy="2148840"/>
            <a:chOff x="0" y="0"/>
            <a:chExt cx="9182100" cy="2865120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91821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FRONTEND TECHNOLOGIES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54050"/>
              <a:ext cx="9182100" cy="2211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system utilizes </a:t>
              </a:r>
              <a:r>
                <a:rPr lang="en-US" sz="2400" b="1" u="none">
                  <a:solidFill>
                    <a:srgbClr val="1F2937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HTML, CSS</a:t>
              </a:r>
              <a:r>
                <a:rPr lang="en-US" sz="2400" u="none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and </a:t>
              </a:r>
              <a:r>
                <a:rPr lang="en-US" sz="2400" b="1" u="none">
                  <a:solidFill>
                    <a:srgbClr val="1F2937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JavaScript</a:t>
              </a:r>
              <a:r>
                <a:rPr lang="en-US" sz="2400" u="none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to create a user-friendly interface, ensuring seamless navigation and responsive design across various devices for optimal user experience.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6038850"/>
            <a:ext cx="6886575" cy="2152650"/>
            <a:chOff x="0" y="0"/>
            <a:chExt cx="9182100" cy="2870200"/>
          </a:xfrm>
        </p:grpSpPr>
        <p:sp>
          <p:nvSpPr>
            <p:cNvPr id="6" name="TextBox 6"/>
            <p:cNvSpPr txBox="1"/>
            <p:nvPr/>
          </p:nvSpPr>
          <p:spPr>
            <a:xfrm>
              <a:off x="0" y="-9525"/>
              <a:ext cx="91821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BACKEND TECHNOLOGIES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659130"/>
              <a:ext cx="9182100" cy="2211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backend is powered by</a:t>
              </a:r>
              <a:r>
                <a:rPr lang="en-US" sz="2400" b="1" u="none">
                  <a:solidFill>
                    <a:srgbClr val="1F2937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 Laravel (Blade),</a:t>
              </a:r>
              <a:r>
                <a:rPr lang="en-US" sz="2400" u="none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b="1" u="none">
                  <a:solidFill>
                    <a:srgbClr val="1F2937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MySQL database</a:t>
              </a:r>
              <a:r>
                <a:rPr lang="en-US" sz="2400" u="none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facilitating efficient data management, secure user interactions, and real-time updates for route and fare information.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1562100"/>
            <a:ext cx="16954500" cy="2381255"/>
            <a:chOff x="0" y="0"/>
            <a:chExt cx="22606000" cy="3175006"/>
          </a:xfrm>
        </p:grpSpPr>
        <p:sp>
          <p:nvSpPr>
            <p:cNvPr id="9" name="TextBox 9"/>
            <p:cNvSpPr txBox="1"/>
            <p:nvPr/>
          </p:nvSpPr>
          <p:spPr>
            <a:xfrm>
              <a:off x="0" y="85725"/>
              <a:ext cx="22606000" cy="19462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000"/>
                </a:lnSpc>
                <a:spcBef>
                  <a:spcPct val="0"/>
                </a:spcBef>
              </a:pPr>
              <a:r>
                <a:rPr lang="en-US" sz="10000" u="none" strike="noStrike" spc="-100">
                  <a:solidFill>
                    <a:srgbClr val="1E3A8A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System Architecture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682881"/>
              <a:ext cx="226060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UNDERSTANDING FRONTEND AND BACKEND TECHNOLOGIES</a:t>
              </a:r>
            </a:p>
          </p:txBody>
        </p:sp>
      </p:grpSp>
      <p:sp>
        <p:nvSpPr>
          <p:cNvPr id="11" name="Auto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750" y="681038"/>
            <a:ext cx="16954500" cy="0"/>
          </a:xfrm>
          <a:prstGeom prst="line">
            <a:avLst/>
          </a:prstGeom>
          <a:ln w="28575" cap="rnd">
            <a:solidFill>
              <a:srgbClr val="1E3A8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4238625"/>
            <a:ext cx="113347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spc="120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6750" y="6029325"/>
            <a:ext cx="113347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spc="120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6750" y="7820025"/>
            <a:ext cx="113347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spc="120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96400" y="4238625"/>
            <a:ext cx="113347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spc="120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96400" y="6029325"/>
            <a:ext cx="113347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spc="120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96400" y="7820025"/>
            <a:ext cx="113347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spc="120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06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105025" y="4248150"/>
            <a:ext cx="5448300" cy="895350"/>
            <a:chOff x="0" y="0"/>
            <a:chExt cx="7264400" cy="1193800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USER ROUTE ENTRY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659130"/>
              <a:ext cx="72644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Users input desired starting point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105025" y="6038850"/>
            <a:ext cx="5448300" cy="895350"/>
            <a:chOff x="0" y="0"/>
            <a:chExt cx="7264400" cy="11938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ROUTE SELECTION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659130"/>
              <a:ext cx="72644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Users choose preferred travel option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105025" y="7829550"/>
            <a:ext cx="5448300" cy="895350"/>
            <a:chOff x="0" y="0"/>
            <a:chExt cx="7264400" cy="1193800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REVIEW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659130"/>
              <a:ext cx="72644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Admin updates system with feedback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734675" y="4248150"/>
            <a:ext cx="5448300" cy="895350"/>
            <a:chOff x="0" y="0"/>
            <a:chExt cx="7264400" cy="1193800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OPTIONS DISPLAY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659130"/>
              <a:ext cx="72644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System shows routes with fares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734675" y="6038850"/>
            <a:ext cx="5448300" cy="895350"/>
            <a:chOff x="0" y="0"/>
            <a:chExt cx="7264400" cy="1193800"/>
          </a:xfrm>
        </p:grpSpPr>
        <p:sp>
          <p:nvSpPr>
            <p:cNvPr id="21" name="TextBox 21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ISSUE REPORTING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659130"/>
              <a:ext cx="72644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Users can report problems encountered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734675" y="7829550"/>
            <a:ext cx="5448300" cy="895350"/>
            <a:chOff x="0" y="0"/>
            <a:chExt cx="7264400" cy="1193800"/>
          </a:xfrm>
        </p:grpSpPr>
        <p:sp>
          <p:nvSpPr>
            <p:cNvPr id="24" name="TextBox 24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CONTINUOUS IMPROVEMENT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659130"/>
              <a:ext cx="72644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System evolves based on user input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666750" y="752475"/>
            <a:ext cx="16954500" cy="143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  <a:spcBef>
                <a:spcPct val="0"/>
              </a:spcBef>
            </a:pPr>
            <a:r>
              <a:rPr lang="en-US" sz="10000" u="none" strike="noStrike" spc="-100">
                <a:solidFill>
                  <a:srgbClr val="1E3A8A"/>
                </a:solidFill>
                <a:latin typeface="Antique Olive"/>
                <a:ea typeface="Antique Olive"/>
                <a:cs typeface="Antique Olive"/>
                <a:sym typeface="Antique Olive"/>
              </a:rPr>
              <a:t>System Workflow Steps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4238625"/>
            <a:ext cx="113347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4"/>
              </a:lnSpc>
              <a:spcBef>
                <a:spcPct val="0"/>
              </a:spcBef>
            </a:pPr>
            <a:r>
              <a:rPr lang="en-US" sz="2370" b="1" spc="118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6750" y="6029325"/>
            <a:ext cx="113347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4"/>
              </a:lnSpc>
              <a:spcBef>
                <a:spcPct val="0"/>
              </a:spcBef>
            </a:pPr>
            <a:r>
              <a:rPr lang="en-US" sz="2370" b="1" spc="118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296400" y="4238625"/>
            <a:ext cx="113347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4"/>
              </a:lnSpc>
              <a:spcBef>
                <a:spcPct val="0"/>
              </a:spcBef>
            </a:pPr>
            <a:r>
              <a:rPr lang="en-US" sz="2370" b="1" spc="118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96400" y="6029325"/>
            <a:ext cx="113347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4"/>
              </a:lnSpc>
              <a:spcBef>
                <a:spcPct val="0"/>
              </a:spcBef>
            </a:pPr>
            <a:r>
              <a:rPr lang="en-US" sz="2370" b="1" spc="118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04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105025" y="4248150"/>
            <a:ext cx="5448300" cy="896112"/>
            <a:chOff x="0" y="0"/>
            <a:chExt cx="7264400" cy="1194816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EASY TO USE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659130"/>
              <a:ext cx="7264400" cy="5356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370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Intuitive interface for all users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05025" y="6038850"/>
            <a:ext cx="5448300" cy="896112"/>
            <a:chOff x="0" y="0"/>
            <a:chExt cx="7264400" cy="1194816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FEEDBACK SYSTEM INCLUDED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59130"/>
              <a:ext cx="7264400" cy="5356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370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Allows users to report issues easily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095533" y="8192262"/>
            <a:ext cx="6886575" cy="1315212"/>
            <a:chOff x="0" y="0"/>
            <a:chExt cx="9182100" cy="1753616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1511300" cy="479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44"/>
                </a:lnSpc>
                <a:spcBef>
                  <a:spcPct val="0"/>
                </a:spcBef>
              </a:pPr>
              <a:r>
                <a:rPr lang="en-US" sz="2370" b="1" spc="118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05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1770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SUPPORTS USERS AND ADMIN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17700" y="659130"/>
              <a:ext cx="7264400" cy="10944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370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Facilitates efficient transport management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734675" y="4248150"/>
            <a:ext cx="5448300" cy="1315212"/>
            <a:chOff x="0" y="0"/>
            <a:chExt cx="7264400" cy="1753616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PRACTICAL AND REALISTIC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659130"/>
              <a:ext cx="7264400" cy="10944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370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Designed for real-world commuting needs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734675" y="6038850"/>
            <a:ext cx="5448300" cy="1258062"/>
            <a:chOff x="0" y="0"/>
            <a:chExt cx="7264400" cy="1677416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9525"/>
              <a:ext cx="7264400" cy="974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1E3A8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VISUAL MAP IMPROVES UNDERSTANDING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1141730"/>
              <a:ext cx="7264400" cy="5356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370">
                  <a:solidFill>
                    <a:srgbClr val="1F293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Clear routes enhance trip planning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66750" y="752475"/>
            <a:ext cx="16954500" cy="2581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  <a:spcBef>
                <a:spcPct val="0"/>
              </a:spcBef>
            </a:pPr>
            <a:r>
              <a:rPr lang="en-US" sz="10000" u="none" strike="noStrike" spc="-100">
                <a:solidFill>
                  <a:srgbClr val="1E3A8A"/>
                </a:solidFill>
                <a:latin typeface="Antique Olive"/>
                <a:ea typeface="Antique Olive"/>
                <a:cs typeface="Antique Olive"/>
                <a:sym typeface="Antique Olive"/>
              </a:rPr>
              <a:t>Key Strengths of the System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647825"/>
            <a:ext cx="16954500" cy="2581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  <a:spcBef>
                <a:spcPct val="0"/>
              </a:spcBef>
            </a:pPr>
            <a:r>
              <a:rPr lang="en-US" sz="10000" u="none" strike="noStrike" spc="-100">
                <a:solidFill>
                  <a:srgbClr val="1E3A8A"/>
                </a:solidFill>
                <a:latin typeface="Antique Olive"/>
                <a:ea typeface="Antique Olive"/>
                <a:cs typeface="Antique Olive"/>
                <a:sym typeface="Antique Olive"/>
              </a:rPr>
              <a:t>Reliable Transport Information</a:t>
            </a:r>
          </a:p>
        </p:txBody>
      </p:sp>
      <p:sp>
        <p:nvSpPr>
          <p:cNvPr id="3" name="Auto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750" y="681038"/>
            <a:ext cx="16954500" cy="0"/>
          </a:xfrm>
          <a:prstGeom prst="line">
            <a:avLst/>
          </a:prstGeom>
          <a:ln w="28575" cap="rnd">
            <a:solidFill>
              <a:srgbClr val="1E3A8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Box 4"/>
          <p:cNvSpPr txBox="1"/>
          <p:nvPr/>
        </p:nvSpPr>
        <p:spPr>
          <a:xfrm>
            <a:off x="9296400" y="8886825"/>
            <a:ext cx="8324850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spc="120">
                <a:solidFill>
                  <a:srgbClr val="1F2937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ENHANCING COMMUTING WITH ACCURATE TRANSIT DETAILS</a:t>
            </a:r>
          </a:p>
        </p:txBody>
      </p:sp>
      <p:sp>
        <p:nvSpPr>
          <p:cNvPr id="5" name="Freeform 5"/>
          <p:cNvSpPr/>
          <p:nvPr/>
        </p:nvSpPr>
        <p:spPr>
          <a:xfrm>
            <a:off x="-1676400" y="6934200"/>
            <a:ext cx="3352800" cy="3352800"/>
          </a:xfrm>
          <a:custGeom>
            <a:avLst/>
            <a:gdLst/>
            <a:ahLst/>
            <a:cxnLst/>
            <a:rect l="l" t="t" r="r" b="b"/>
            <a:pathLst>
              <a:path w="3352800" h="3352800">
                <a:moveTo>
                  <a:pt x="0" y="0"/>
                </a:moveTo>
                <a:lnTo>
                  <a:pt x="3352800" y="0"/>
                </a:lnTo>
                <a:lnTo>
                  <a:pt x="3352800" y="3352800"/>
                </a:lnTo>
                <a:lnTo>
                  <a:pt x="0" y="335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6" name="Freeform 6"/>
          <p:cNvSpPr/>
          <p:nvPr/>
        </p:nvSpPr>
        <p:spPr>
          <a:xfrm>
            <a:off x="1676400" y="6934200"/>
            <a:ext cx="3352800" cy="3352800"/>
          </a:xfrm>
          <a:custGeom>
            <a:avLst/>
            <a:gdLst/>
            <a:ahLst/>
            <a:cxnLst/>
            <a:rect l="l" t="t" r="r" b="b"/>
            <a:pathLst>
              <a:path w="3352800" h="3352800">
                <a:moveTo>
                  <a:pt x="0" y="0"/>
                </a:moveTo>
                <a:lnTo>
                  <a:pt x="3352800" y="0"/>
                </a:lnTo>
                <a:lnTo>
                  <a:pt x="3352800" y="3352800"/>
                </a:lnTo>
                <a:lnTo>
                  <a:pt x="0" y="335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57276" y="4467223"/>
            <a:ext cx="8573449" cy="143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  <a:spcBef>
                <a:spcPct val="0"/>
              </a:spcBef>
            </a:pPr>
            <a:r>
              <a:rPr lang="en-US" sz="10000" spc="-100">
                <a:solidFill>
                  <a:srgbClr val="1E3A8A"/>
                </a:solidFill>
                <a:latin typeface="Antique Olive"/>
                <a:ea typeface="Antique Olive"/>
                <a:cs typeface="Antique Olive"/>
                <a:sym typeface="Antique Olive"/>
              </a:rPr>
              <a:t>THANK YOU!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482</Words>
  <Application>Microsoft Office PowerPoint</Application>
  <PresentationFormat>Custom</PresentationFormat>
  <Paragraphs>114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TT Interphases Bold</vt:lpstr>
      <vt:lpstr>TT Interphases</vt:lpstr>
      <vt:lpstr>Antique Olive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Public Transport Fare and Route Information</dc:title>
  <dc:description>Presentation - Public Transport Fare and Route Information</dc:description>
  <cp:lastModifiedBy>Johnna Dimasangca</cp:lastModifiedBy>
  <cp:revision>2</cp:revision>
  <dcterms:created xsi:type="dcterms:W3CDTF">2006-08-16T00:00:00Z</dcterms:created>
  <dcterms:modified xsi:type="dcterms:W3CDTF">2026-03-26T00:42:30Z</dcterms:modified>
  <dc:identifier>DAHE-JU0OJY</dc:identifier>
</cp:coreProperties>
</file>